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F88"/>
                </a:solidFill>
                <a:latin typeface="Arial"/>
              </a:defRPr>
            </a:pPr>
            <a:r>
              <a:t>CS-221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Smart Corridor Ventilation &amp;</a:t>
            </a:r>
            <a:br/>
            <a:r>
              <a:t>Air Quality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B0"/>
                </a:solidFill>
                <a:latin typeface="Arial"/>
              </a:defRPr>
            </a:pPr>
            <a:r>
              <a:t>A RISC-V based embedded system integrating IoT sensors, low-level architecture,</a:t>
            </a:r>
            <a:br/>
            <a:r>
              <a:t>and 3D visualization for autonomous indoor air quality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03520"/>
            <a:ext cx="10332720" cy="731520"/>
          </a:xfrm>
          <a:prstGeom prst="roundRect">
            <a:avLst/>
          </a:prstGeom>
          <a:solidFill>
            <a:srgbClr val="191923"/>
          </a:solidFill>
          <a:ln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CS-221  |  Computer Organization &amp; Assembly Language  |  BSCS-3B  |  Group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Meets the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560320" cy="3200400"/>
          </a:xfrm>
          <a:prstGeom prst="roundRect">
            <a:avLst/>
          </a:prstGeom>
          <a:solidFill>
            <a:srgbClr val="14141E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37360" y="2743200"/>
            <a:ext cx="914400" cy="914400"/>
          </a:xfrm>
          <a:prstGeom prst="ellipse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Faizan Anwar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88FF"/>
                </a:solidFill>
                <a:latin typeface="Arial"/>
              </a:defRPr>
            </a:pPr>
            <a:r>
              <a:t>455259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Arial"/>
              </a:defRPr>
            </a:pPr>
            <a:r>
              <a:t>Team Rep • System Architect &amp; Lead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286000"/>
            <a:ext cx="2560320" cy="3200400"/>
          </a:xfrm>
          <a:prstGeom prst="roundRect">
            <a:avLst/>
          </a:prstGeom>
          <a:solidFill>
            <a:srgbClr val="14141E"/>
          </a:solidFill>
          <a:ln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0560" y="2743200"/>
            <a:ext cx="914400" cy="914400"/>
          </a:xfrm>
          <a:prstGeom prst="ellipse">
            <a:avLst/>
          </a:prstGeom>
          <a:solidFill>
            <a:srgbClr val="FF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Abdul Moiz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4466"/>
                </a:solidFill>
                <a:latin typeface="Arial"/>
              </a:defRPr>
            </a:pPr>
            <a:r>
              <a:t>465932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572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Arial"/>
              </a:defRPr>
            </a:pPr>
            <a:r>
              <a:t>Hardware Simulation Specialist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560320" cy="3200400"/>
          </a:xfrm>
          <a:prstGeom prst="roundRect">
            <a:avLst/>
          </a:prstGeom>
          <a:solidFill>
            <a:srgbClr val="14141E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2743200"/>
            <a:ext cx="914400" cy="9144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Muhammad Taha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FF88"/>
                </a:solidFill>
                <a:latin typeface="Arial"/>
              </a:defRPr>
            </a:pPr>
            <a:r>
              <a:t>467244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72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Arial"/>
              </a:defRPr>
            </a:pPr>
            <a:r>
              <a:t>Software Engineer (Assembly)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86000"/>
            <a:ext cx="2560320" cy="3200400"/>
          </a:xfrm>
          <a:prstGeom prst="roundRect">
            <a:avLst/>
          </a:prstGeom>
          <a:solidFill>
            <a:srgbClr val="14141E"/>
          </a:solidFill>
          <a:ln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0" y="2743200"/>
            <a:ext cx="914400" cy="914400"/>
          </a:xfrm>
          <a:prstGeom prst="ellipse">
            <a:avLst/>
          </a:prstGeom>
          <a:solidFill>
            <a:srgbClr val="99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Sham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66FF"/>
                </a:solidFill>
                <a:latin typeface="Arial"/>
              </a:defRPr>
            </a:pPr>
            <a:r>
              <a:t>457919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5720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Arial"/>
              </a:defRPr>
            </a:pPr>
            <a:r>
              <a:t>Testing &amp; Validation 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058400" cy="3657600"/>
          </a:xfrm>
          <a:prstGeom prst="roundRect">
            <a:avLst/>
          </a:prstGeom>
          <a:solidFill>
            <a:srgbClr val="14141E"/>
          </a:solidFill>
          <a:ln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457200"/>
          <a:lstStyle/>
          <a:p>
            <a:pPr algn="ctr">
              <a:defRPr sz="2400" b="1">
                <a:solidFill>
                  <a:srgbClr val="FF4466"/>
                </a:solidFill>
              </a:defRPr>
            </a:pPr>
            <a:r>
              <a:t>The Challenge</a:t>
            </a:r>
          </a:p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Conventional ventilation systems are manual or timer-based, failing to respond dynamically to real-time hazards choices.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Hypercapnia Risk: Elevated CO2 levels (&gt;1000 ppm) cause fatigue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Particulate Accumulation: PM2.5 particles (&gt;100 µg/m³) damage health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Fire Hazards: Smoke infiltration requires immediate mitigation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Delayed Response: Manual systems have dangerous reaction latency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029200" cy="1828800"/>
          </a:xfrm>
          <a:prstGeom prst="roundRect">
            <a:avLst/>
          </a:prstGeom>
          <a:solidFill>
            <a:srgbClr val="14141E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A0A0B0"/>
                </a:solidFill>
                <a:latin typeface="Arial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Real-Time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B0"/>
                </a:solidFill>
                <a:latin typeface="Arial"/>
              </a:defRPr>
            </a:pPr>
            <a:r>
              <a:t>Detect hazards within milliseconds using RISC-V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1828800"/>
          </a:xfrm>
          <a:prstGeom prst="roundRect">
            <a:avLst/>
          </a:prstGeom>
          <a:solidFill>
            <a:srgbClr val="14141E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A0A0B0"/>
                </a:solidFill>
                <a:latin typeface="Arial"/>
              </a:defRPr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Autonomous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B0"/>
                </a:solidFill>
                <a:latin typeface="Arial"/>
              </a:defRPr>
            </a:pPr>
            <a:r>
              <a:t>Activate ventilation without human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5029200" cy="1828800"/>
          </a:xfrm>
          <a:prstGeom prst="roundRect">
            <a:avLst/>
          </a:prstGeom>
          <a:solidFill>
            <a:srgbClr val="14141E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A0A0B0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Multi-Sensor 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846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B0"/>
                </a:solidFill>
                <a:latin typeface="Arial"/>
              </a:defRPr>
            </a:pPr>
            <a:r>
              <a:t>Combine Smoke, PM2.5, CO2, and Temperature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5029200" cy="1828800"/>
          </a:xfrm>
          <a:prstGeom prst="roundRect">
            <a:avLst/>
          </a:prstGeom>
          <a:solidFill>
            <a:srgbClr val="14141E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297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A0A0B0"/>
                </a:solidFill>
                <a:latin typeface="Arial"/>
              </a:defRPr>
            </a:pPr>
            <a:r>
              <a:t>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Digital Twin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846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0B0"/>
                </a:solidFill>
                <a:latin typeface="Arial"/>
              </a:defRPr>
            </a:pPr>
            <a:r>
              <a:t>Immersive 3D simulation for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System Architecture: Three-Layer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3657600" cy="3200400"/>
          </a:xfrm>
          <a:prstGeom prst="roundRect">
            <a:avLst/>
          </a:prstGeom>
          <a:solidFill>
            <a:srgbClr val="14141E"/>
          </a:solidFill>
          <a:ln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Layer 1: Ripes</a:t>
            </a:r>
          </a:p>
          <a:p>
            <a:pPr algn="ctr">
              <a:defRPr sz="1600">
                <a:solidFill>
                  <a:srgbClr val="FF4466"/>
                </a:solidFill>
              </a:defRPr>
            </a:pPr>
            <a:r>
              <a:t>RISC-V Architecture</a:t>
            </a:r>
          </a:p>
          <a:p>
            <a:br/>
            <a:pPr algn="ctr">
              <a:defRPr sz="1400"/>
            </a:pPr>
            <a:r>
              <a:t>Low-level processor simulation with Memory-Mapped I/O and register manipulation.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286000"/>
            <a:ext cx="3657600" cy="3200400"/>
          </a:xfrm>
          <a:prstGeom prst="roundRect">
            <a:avLst/>
          </a:prstGeom>
          <a:solidFill>
            <a:srgbClr val="14141E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Layer 2: Wokwi</a:t>
            </a:r>
          </a:p>
          <a:p>
            <a:pPr algn="ctr">
              <a:defRPr sz="1600">
                <a:solidFill>
                  <a:srgbClr val="4488FF"/>
                </a:solidFill>
              </a:defRPr>
            </a:pPr>
            <a:r>
              <a:t>IoT Hardware Layer</a:t>
            </a:r>
          </a:p>
          <a:p>
            <a:br/>
            <a:pPr algn="ctr">
              <a:defRPr sz="1400"/>
            </a:pPr>
            <a:r>
              <a:t>ESP32-based sensor node with real sensors, WiFi, and MQTT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2286000"/>
            <a:ext cx="3657600" cy="3200400"/>
          </a:xfrm>
          <a:prstGeom prst="roundRect">
            <a:avLst/>
          </a:prstGeom>
          <a:solidFill>
            <a:srgbClr val="14141E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Layer 3: Simulation</a:t>
            </a:r>
          </a:p>
          <a:p>
            <a:pPr algn="ctr">
              <a:defRPr sz="1600">
                <a:solidFill>
                  <a:srgbClr val="00FF88"/>
                </a:solidFill>
              </a:defRPr>
            </a:pPr>
            <a:r>
              <a:t>3D Digital Twin</a:t>
            </a:r>
          </a:p>
          <a:p>
            <a:br/>
            <a:pPr algn="ctr">
              <a:defRPr sz="1400"/>
            </a:pPr>
            <a:r>
              <a:t>React + Three.js immersive environment with particles and physics.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Architecture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371600"/>
            <a:ext cx="3044952" cy="914400"/>
          </a:xfrm>
          <a:prstGeom prst="rect">
            <a:avLst/>
          </a:prstGeom>
          <a:solidFill>
            <a:srgbClr val="281414"/>
          </a:solidFill>
          <a:ln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RISC-V Core</a:t>
            </a:r>
          </a:p>
          <a:p>
            <a:r>
              <a:t>Registers x0-x31 | ALU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0360152" cy="457200"/>
          </a:xfrm>
          <a:prstGeom prst="rect">
            <a:avLst/>
          </a:prstGeom>
          <a:solidFill>
            <a:srgbClr val="141E32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System Bus (Data / Address / Control)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22860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71600" y="3657600"/>
            <a:ext cx="2286000" cy="914400"/>
          </a:xfrm>
          <a:prstGeom prst="rect">
            <a:avLst/>
          </a:prstGeom>
          <a:solidFill>
            <a:srgbClr val="14281E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0xF0000000</a:t>
            </a:r>
          </a:p>
          <a:p>
            <a:r>
              <a:t>Smoke + PM2.5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657600"/>
            <a:ext cx="2286000" cy="914400"/>
          </a:xfrm>
          <a:prstGeom prst="rect">
            <a:avLst/>
          </a:prstGeom>
          <a:solidFill>
            <a:srgbClr val="14281E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0xF0000004</a:t>
            </a:r>
          </a:p>
          <a:p>
            <a:r>
              <a:t>CO2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657600"/>
            <a:ext cx="2286000" cy="914400"/>
          </a:xfrm>
          <a:prstGeom prst="rect">
            <a:avLst/>
          </a:prstGeom>
          <a:solidFill>
            <a:srgbClr val="14281E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0xF0000008</a:t>
            </a:r>
          </a:p>
          <a:p>
            <a:r>
              <a:t>LED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1828800" cy="731520"/>
          </a:xfrm>
          <a:prstGeom prst="roundRect">
            <a:avLst/>
          </a:prstGeom>
          <a:solidFill>
            <a:srgbClr val="1E1432"/>
          </a:solidFill>
          <a:ln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Smoke Detector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029200"/>
            <a:ext cx="1828800" cy="731520"/>
          </a:xfrm>
          <a:prstGeom prst="roundRect">
            <a:avLst/>
          </a:prstGeom>
          <a:solidFill>
            <a:srgbClr val="1E1432"/>
          </a:solidFill>
          <a:ln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PM2.5 Sensor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5029200"/>
            <a:ext cx="1828800" cy="731520"/>
          </a:xfrm>
          <a:prstGeom prst="roundRect">
            <a:avLst/>
          </a:prstGeom>
          <a:solidFill>
            <a:srgbClr val="1E1432"/>
          </a:solidFill>
          <a:ln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CO2 Sensor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5029200"/>
            <a:ext cx="1828800" cy="731520"/>
          </a:xfrm>
          <a:prstGeom prst="roundRect">
            <a:avLst/>
          </a:prstGeom>
          <a:solidFill>
            <a:srgbClr val="1E1432"/>
          </a:solidFill>
          <a:ln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Fan + LEDs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Layer 1: Ripes (RISC-V Simulation)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4466"/>
                </a:solidFill>
                <a:latin typeface="Arial"/>
              </a:defRPr>
            </a:pPr>
            <a:r>
              <a:t>What is Ripes?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Visual RISC-V Processor Simulator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Pipeline visualization (IF, ID, EX, MEM, WB)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Register file inspection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Memory-Mapped I/O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4466"/>
                </a:solidFill>
                <a:latin typeface="Arial"/>
              </a:defRPr>
            </a:pPr>
            <a:r>
              <a:t>Why RISC-V?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Open-source ISA (no licensing)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Reduced instruction set = efficiency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Deterministic timing for safety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Educational transparency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Memory-Mapped I/O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488FF"/>
                </a:solidFill>
                <a:latin typeface="Arial"/>
              </a:defRPr>
            </a:pPr>
            <a:r>
              <a:t>Address              Name                 Bit Layout                        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t>0xF0000000        Switch Bank 0      Bit 0: Smoke | 1-7: PM2.5     Read Sensor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t>0xF0000004        Switch Bank 1      Bits 0-7: CO2 Level              Read CO2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t>0xF0000008        LED Matrix         35x25 Pixel Grid (875 px)      Visual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0B0"/>
                </a:solidFill>
                <a:latin typeface="Arial"/>
              </a:defRPr>
            </a:pPr>
            <a:r>
              <a:t>LED Status Codes: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00FF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t>GREEN = Safe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5486400"/>
            <a:ext cx="274320" cy="274320"/>
          </a:xfrm>
          <a:prstGeom prst="ellipse">
            <a:avLst/>
          </a:prstGeom>
          <a:solidFill>
            <a:srgbClr val="FF44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t>RED = Danger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5486400"/>
            <a:ext cx="274320" cy="274320"/>
          </a:xfrm>
          <a:prstGeom prst="ellipse">
            <a:avLst/>
          </a:prstGeom>
          <a:solidFill>
            <a:srgbClr val="448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t>BLUE = Fan 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RISC-V Assembly: Core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058400" cy="4114800"/>
          </a:xfrm>
          <a:prstGeom prst="roundRect">
            <a:avLst/>
          </a:prstGeom>
          <a:solidFill>
            <a:srgbClr val="1A1A2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l">
              <a:defRPr sz="1200">
                <a:solidFill>
                  <a:srgbClr val="C8C8C8"/>
                </a:solidFill>
                <a:latin typeface="Courier New"/>
              </a:defRPr>
            </a:pPr>
            <a:r>
              <a:t># Sensor Polling &amp; Smoke Check (Critical Priority)</a:t>
            </a:r>
            <a:br/>
            <a:r>
              <a:t>main_loop:</a:t>
            </a:r>
            <a:br/>
            <a:r>
              <a:t>    li t0, 0xF0000000      # Load Switch Bank 0 Address</a:t>
            </a:r>
            <a:br/>
            <a:r>
              <a:t>    lw s0, 0(t0)           # Read Raw Input (Smoke + PM2.5)</a:t>
            </a:r>
            <a:br/>
            <a:r>
              <a:t>    </a:t>
            </a:r>
            <a:br/>
            <a:r>
              <a:t>    li t1, 1               # Mask for Bit 0</a:t>
            </a:r>
            <a:br/>
            <a:r>
              <a:t>    and a0, s0, t1         # Isolate Smoke Bit</a:t>
            </a:r>
            <a:br/>
            <a:r>
              <a:t>    bnez a0, unsafe_mode   # BRANCH IMMEDIATE if Smoke!</a:t>
            </a:r>
            <a:br/>
            <a:br/>
            <a:r>
              <a:t># PM2.5 Parsing</a:t>
            </a:r>
            <a:br/>
            <a:r>
              <a:t>    srli a1, s0, 1         # Shift right (remove Smoke bit)</a:t>
            </a:r>
            <a:br/>
            <a:r>
              <a:t>    li t1, 0x7F            # Mask 0111 1111 (7-bit PM2.5)</a:t>
            </a:r>
            <a:br/>
            <a:r>
              <a:t>    and a1, a1, t1         # Clean PM2.5 value</a:t>
            </a:r>
            <a:br/>
            <a:r>
              <a:t>    </a:t>
            </a:r>
            <a:br/>
            <a:r>
              <a:t>    li t2, 100             # Threshold constant</a:t>
            </a:r>
            <a:br/>
            <a:r>
              <a:t>    bgt a1, t2, unsafe_mode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Layer 2: Wokwi (IoT Hardware Simulation)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488FF"/>
                </a:solidFill>
                <a:latin typeface="Arial"/>
              </a:defRPr>
            </a:pPr>
            <a:r>
              <a:t>Hardware Components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ESP32 Microcontroller (WiFi)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Potentiometers (Analog Sensors)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Slide Switch (Digital Smoke)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RGB LEDs (Status)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4488FF"/>
                </a:solidFill>
                <a:latin typeface="Arial"/>
              </a:defRPr>
            </a:pPr>
            <a:r>
              <a:t>Connectivity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WiFi: Wokwi-GUEST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MQTT: broker.hivemq.com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Topic: smart-corridor/sensors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Topic: smart-corridor/commands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RISC-V Style Decision Logic (C++)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058400" cy="4114800"/>
          </a:xfrm>
          <a:prstGeom prst="roundRect">
            <a:avLst/>
          </a:prstGeom>
          <a:solidFill>
            <a:srgbClr val="1A1A2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l">
              <a:defRPr sz="1200">
                <a:solidFill>
                  <a:srgbClr val="C8C8C8"/>
                </a:solidFill>
                <a:latin typeface="Courier New"/>
              </a:defRPr>
            </a:pPr>
            <a:r>
              <a:t>// Priority-based hazard detection</a:t>
            </a:r>
            <a:br/>
            <a:r>
              <a:t>if (effective_smoke &gt; 30) {</a:t>
            </a:r>
            <a:br/>
            <a:r>
              <a:t>    status_msg = "CRITICAL: SMOKE DETECTED";</a:t>
            </a:r>
            <a:br/>
            <a:r>
              <a:t>    alert_level = "critical";      // Priority 1</a:t>
            </a:r>
            <a:br/>
            <a:r>
              <a:t>}</a:t>
            </a:r>
            <a:br/>
            <a:r>
              <a:t>else if (effective_temp &gt; 35) {</a:t>
            </a:r>
            <a:br/>
            <a:r>
              <a:t>    status_msg = "DANGER: HIGH TEMPERATURE";</a:t>
            </a:r>
            <a:br/>
            <a:r>
              <a:t>    alert_level = "danger";        // Priority 2</a:t>
            </a:r>
            <a:br/>
            <a:r>
              <a:t>}</a:t>
            </a:r>
            <a:br/>
            <a:r>
              <a:t>else if (effective_pm25 &gt; 80) {</a:t>
            </a:r>
            <a:br/>
            <a:r>
              <a:t>    status_msg = "WARNING: HIGH PM2.5";</a:t>
            </a:r>
            <a:br/>
            <a:r>
              <a:t>    alert_level = "warning";       // Priority 3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Layer 3: 3D Digital Twin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0FF88"/>
                </a:solidFill>
                <a:latin typeface="Arial"/>
              </a:defRPr>
            </a:pPr>
            <a:r>
              <a:t>Technology Stack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React (Component UI)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Three.js / Fiber (3D Rendering)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Rapier (Physics Engine)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Vite (Build Tool)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0FF88"/>
                </a:solidFill>
                <a:latin typeface="Arial"/>
              </a:defRPr>
            </a:pPr>
            <a:r>
              <a:t>Environment Features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First-Person Controller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Dynamic Smoke Particles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Interactive Appliances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Real-time Alert Lighting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Simulation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029200" cy="1828800"/>
          </a:xfrm>
          <a:prstGeom prst="roundRect">
            <a:avLst/>
          </a:prstGeom>
          <a:solidFill>
            <a:srgbClr val="141E19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🌫️ Fog System</a:t>
            </a:r>
          </a:p>
          <a:p>
            <a:pPr>
              <a:defRPr sz="1600">
                <a:solidFill>
                  <a:srgbClr val="A0A0B0"/>
                </a:solidFill>
              </a:defRPr>
            </a:pPr>
            <a:r>
              <a:t>Thousands of particles visualizing smoke spread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828800"/>
            <a:ext cx="5029200" cy="1828800"/>
          </a:xfrm>
          <a:prstGeom prst="roundRect">
            <a:avLst/>
          </a:prstGeom>
          <a:solidFill>
            <a:srgbClr val="141E19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📊 Dashboard</a:t>
            </a:r>
          </a:p>
          <a:p>
            <a:pPr>
              <a:defRPr sz="1600">
                <a:solidFill>
                  <a:srgbClr val="A0A0B0"/>
                </a:solidFill>
              </a:defRPr>
            </a:pPr>
            <a:r>
              <a:t>Live overlay showing CO2, PM2.5, AQI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5029200" cy="1828800"/>
          </a:xfrm>
          <a:prstGeom prst="roundRect">
            <a:avLst/>
          </a:prstGeom>
          <a:solidFill>
            <a:srgbClr val="141E19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💨 Ventilation</a:t>
            </a:r>
          </a:p>
          <a:p>
            <a:pPr>
              <a:defRPr sz="1600">
                <a:solidFill>
                  <a:srgbClr val="A0A0B0"/>
                </a:solidFill>
              </a:defRPr>
            </a:pPr>
            <a:r>
              <a:t>Fans spin and clear smoke on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114800"/>
            <a:ext cx="5029200" cy="1828800"/>
          </a:xfrm>
          <a:prstGeom prst="roundRect">
            <a:avLst/>
          </a:prstGeom>
          <a:solidFill>
            <a:srgbClr val="141E19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🚨 Alert Lights</a:t>
            </a:r>
          </a:p>
          <a:p>
            <a:pPr>
              <a:defRPr sz="1600">
                <a:solidFill>
                  <a:srgbClr val="A0A0B0"/>
                </a:solidFill>
              </a:defRPr>
            </a:pPr>
            <a:r>
              <a:t>House lights change color (Green -&gt; Red)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System Integration via MQTT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2743200" cy="1828800"/>
          </a:xfrm>
          <a:prstGeom prst="roundRect">
            <a:avLst/>
          </a:prstGeom>
          <a:solidFill>
            <a:srgbClr val="14281E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3D Simulation</a:t>
            </a:r>
          </a:p>
          <a:p>
            <a:r>
              <a:t>(React)</a:t>
            </a:r>
          </a:p>
          <a:p>
            <a:r>
              <a:t>[Publishes Sensors]</a:t>
            </a:r>
          </a:p>
        </p:txBody>
      </p:sp>
      <p:sp>
        <p:nvSpPr>
          <p:cNvPr id="4" name="Cloud 3"/>
          <p:cNvSpPr/>
          <p:nvPr/>
        </p:nvSpPr>
        <p:spPr>
          <a:xfrm>
            <a:off x="4572000" y="1828800"/>
            <a:ext cx="2743200" cy="3657600"/>
          </a:xfrm>
          <a:prstGeom prst="cloud">
            <a:avLst/>
          </a:prstGeom>
          <a:solidFill>
            <a:srgbClr val="281E3C"/>
          </a:solidFill>
          <a:ln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MQTT Broker</a:t>
            </a:r>
          </a:p>
          <a:p>
            <a:r>
              <a:t>hivemq.com</a:t>
            </a:r>
          </a:p>
          <a:p/>
          <a:p>
            <a:r>
              <a:t>&lt;Topics&gt;</a:t>
            </a:r>
          </a:p>
          <a:p>
            <a:r>
              <a:t>/sensors</a:t>
            </a:r>
          </a:p>
          <a:p>
            <a:r>
              <a:t>/commands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743200"/>
            <a:ext cx="2743200" cy="1828800"/>
          </a:xfrm>
          <a:prstGeom prst="roundRect">
            <a:avLst/>
          </a:prstGeom>
          <a:solidFill>
            <a:srgbClr val="141E32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Wokwi (ESP32)</a:t>
            </a:r>
          </a:p>
          <a:p>
            <a:r>
              <a:t>(RISC-V Logic)</a:t>
            </a:r>
          </a:p>
          <a:p>
            <a:r>
              <a:t>[Publishes Commands]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2004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15200" y="32004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Implementation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8229600" cy="548640"/>
          </a:xfrm>
          <a:prstGeom prst="rect">
            <a:avLst/>
          </a:prstGeom>
          <a:solidFill>
            <a:srgbClr val="191923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1. Requirement Analysis: Define thresholds &amp; safety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560320"/>
            <a:ext cx="8229600" cy="548640"/>
          </a:xfrm>
          <a:prstGeom prst="rect">
            <a:avLst/>
          </a:prstGeom>
          <a:solidFill>
            <a:srgbClr val="191923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2. RISC-V Logic Design: Assembly code in Ripes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solidFill>
            <a:srgbClr val="191923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3. IoT Layer Development: ESP32 firmware in Wokwi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023360"/>
            <a:ext cx="8229600" cy="548640"/>
          </a:xfrm>
          <a:prstGeom prst="rect">
            <a:avLst/>
          </a:prstGeom>
          <a:solidFill>
            <a:srgbClr val="191923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4. 3D Environment: React Three Fiber house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solidFill>
            <a:srgbClr val="191923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5. Integration: MQTT bridge connection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5486400"/>
            <a:ext cx="8229600" cy="548640"/>
          </a:xfrm>
          <a:prstGeom prst="rect">
            <a:avLst/>
          </a:prstGeom>
          <a:solidFill>
            <a:srgbClr val="191923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6. Testing: Validation of all fail-safes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Testing &amp; Validation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9966FF"/>
                </a:solidFill>
                <a:latin typeface="Arial"/>
              </a:defRPr>
            </a:pPr>
            <a:r>
              <a:t>Unit Testing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Masking Logic (AND ops)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Branch Logic (Thresholds)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LED Drawing (Mem Addresses)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9966FF"/>
                </a:solidFill>
                <a:latin typeface="Arial"/>
              </a:defRPr>
            </a:pPr>
            <a:r>
              <a:t>Integration Testing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Smoke Switch Latency (&lt;1 cycle)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Noisy Data Rejection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MQTT Round-Trip (&lt;500ms)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Live Demo Phase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8531352" cy="2743200"/>
          </a:xfrm>
          <a:prstGeom prst="roundRect">
            <a:avLst/>
          </a:prstGeom>
          <a:solidFill>
            <a:srgbClr val="1E281E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Demonstrating the full loop:</a:t>
            </a:r>
          </a:p>
          <a:p>
            <a:br/>
            <a:pPr algn="ctr">
              <a:defRPr sz="2000"/>
            </a:pPr>
            <a:r>
              <a:t>1. Ripes: Real-time Register Switching</a:t>
            </a:r>
            <a:br/>
            <a:r>
              <a:t>2. Wokwi: Sensor &amp; Actuator Hardware</a:t>
            </a:r>
            <a:br/>
            <a:r>
              <a:t>3. 3D Sim: Visual Environmental Response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0FF88"/>
                </a:solidFill>
                <a:latin typeface="Arial"/>
              </a:defRPr>
            </a:pPr>
            <a:r>
              <a:t>Key Achievements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Full RISC-V implementation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IoT + Digital Twin integration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&lt;100ms Safety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CC00"/>
                </a:solidFill>
                <a:latin typeface="Arial"/>
              </a:defRPr>
            </a:pPr>
            <a:r>
              <a:t>Future Enhancements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FPGA Hardware Implementation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Machine Learning Prediction</a:t>
            </a:r>
          </a:p>
          <a:p>
            <a:pPr>
              <a:defRPr sz="1800">
                <a:solidFill>
                  <a:srgbClr val="A0A0B0"/>
                </a:solidFill>
                <a:latin typeface="Arial"/>
              </a:defRPr>
            </a:pPr>
            <a:r>
              <a:t>Mobile App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5029200"/>
            <a:ext cx="4873752" cy="1371600"/>
          </a:xfrm>
          <a:prstGeom prst="roundRect">
            <a:avLst/>
          </a:prstGeom>
          <a:solidFill>
            <a:srgbClr val="14141E"/>
          </a:solidFill>
          <a:ln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Thank You!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